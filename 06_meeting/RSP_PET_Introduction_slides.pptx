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88952" cy="2286000"/>
          </a:xfrm>
          <a:prstGeom prst="rect">
            <a:avLst/>
          </a:prstGeom>
          <a:solidFill>
            <a:srgbClr val="12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73152" cy="2468880"/>
          </a:xfrm>
          <a:prstGeom prst="rect">
            <a:avLst/>
          </a:prstGeom>
          <a:solidFill>
            <a:srgbClr val="2E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장기 석문호흡 훈련과 글림패틱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D0DFF4"/>
                </a:solidFill>
              </a:rPr>
              <a:t>FDG-PET · PC-MRI · Florbetaben-PET 다중 모달리티 연구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0C0E0"/>
                </a:solidFill>
              </a:rPr>
              <a:t>글림패틱 기능 보존 연관성의 첫 PET 수준 검증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724912"/>
            <a:ext cx="10058400" cy="45720"/>
          </a:xfrm>
          <a:prstGeom prst="rect">
            <a:avLst/>
          </a:prstGeom>
          <a:solidFill>
            <a:srgbClr val="2E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971800"/>
            <a:ext cx="2724912" cy="457200"/>
          </a:xfrm>
          <a:prstGeom prst="rect">
            <a:avLst/>
          </a:prstGeom>
          <a:solidFill>
            <a:srgbClr val="2E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연구 설계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474720"/>
            <a:ext cx="27249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F0"/>
                </a:solidFill>
              </a:rPr>
              <a:t>전향적 단면 관찰 연구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30168" y="2971800"/>
            <a:ext cx="2724912" cy="457200"/>
          </a:xfrm>
          <a:prstGeom prst="rect">
            <a:avLst/>
          </a:prstGeom>
          <a:solidFill>
            <a:srgbClr val="2E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대상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3474720"/>
            <a:ext cx="27249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F0"/>
                </a:solidFill>
              </a:rPr>
              <a:t>60-79세  석문호흡 전문가 vs. 대조군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83096" y="2971800"/>
            <a:ext cx="2724912" cy="457200"/>
          </a:xfrm>
          <a:prstGeom prst="rect">
            <a:avLst/>
          </a:prstGeom>
          <a:solidFill>
            <a:srgbClr val="2E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규모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3474720"/>
            <a:ext cx="27249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F0"/>
                </a:solidFill>
              </a:rPr>
              <a:t>n = 20-30  (Pilot study)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36024" y="2971800"/>
            <a:ext cx="2724912" cy="457200"/>
          </a:xfrm>
          <a:prstGeom prst="rect">
            <a:avLst/>
          </a:prstGeom>
          <a:solidFill>
            <a:srgbClr val="2E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목표 저널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36024" y="3474720"/>
            <a:ext cx="27249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F0"/>
                </a:solidFill>
              </a:rPr>
              <a:t>Nature Communications  (IF ~17)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709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선행 연구 기반: Lim et al., Nature Communications,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12064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680"/>
                </a:solidFill>
              </a:rPr>
              <a:t>Draft v0.1  ·  Pre-data framework  ·  2026-06-05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0515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배경 ①  글림패틱 시스템: 뇌의 노폐물 제거 경로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0DFF4"/>
                </a:solidFill>
              </a:rPr>
              <a:t>2012년 발견 이후 신경퇴행성 질환 연구의 핵심 패러다임으로 부상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22960"/>
            <a:ext cx="3749039" cy="420624"/>
          </a:xfrm>
          <a:prstGeom prst="rect">
            <a:avLst/>
          </a:prstGeom>
          <a:solidFill>
            <a:srgbClr val="2E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🔬  글림패틱 시스템 발견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43584"/>
            <a:ext cx="3749039" cy="4974336"/>
          </a:xfrm>
          <a:prstGeom prst="rect">
            <a:avLst/>
          </a:prstGeom>
          <a:solidFill>
            <a:srgbClr val="D0D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80744"/>
            <a:ext cx="3474720" cy="4791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C2C2C"/>
                </a:solidFill>
              </a:rPr>
              <a:t>뇌에는 전통적으로 림프계가 부재한다고 여겨졌음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C2C2C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C2C2C"/>
                </a:solidFill>
              </a:rPr>
              <a:t>2012년 Iliff et al. — 새로운 노폐물 제거 경로 규명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C2C2C"/>
                </a:solidFill>
              </a:rPr>
              <a:t>  • AQP4 수채널 통해 CSF → 뇌 실질 유입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C2C2C"/>
                </a:solidFill>
              </a:rPr>
              <a:t>  • CSF-ISF 교환으로 Aβ · tau 단백질 배출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C2C2C"/>
                </a:solidFill>
              </a:rPr>
              <a:t>  • 혈관주위공간(perivascular space) 경유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C2C2C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C2C2C"/>
                </a:solidFill>
              </a:rPr>
              <a:t>뇌는 단위 무게당 최고 대사율을 유지하면서도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C2C2C"/>
                </a:solidFill>
              </a:rPr>
              <a:t>효율적인 노폐물 제거 시스템을 갖춤이 증명됨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6364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</a:rPr>
              <a:t>Iliff et al., Sci Transl Med, 2012
doi:10.1126/scitranslmed.3003748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0248" y="822960"/>
            <a:ext cx="3749039" cy="420624"/>
          </a:xfrm>
          <a:prstGeom prst="rect">
            <a:avLst/>
          </a:prstGeom>
          <a:solidFill>
            <a:srgbClr val="127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😴  수면 중 글림패틱 활성화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0248" y="1243584"/>
            <a:ext cx="3749039" cy="4974336"/>
          </a:xfrm>
          <a:prstGeom prst="rect">
            <a:avLst/>
          </a:prstGeom>
          <a:solidFill>
            <a:srgbClr val="CC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07408" y="1380744"/>
            <a:ext cx="3474720" cy="4791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C2C2C"/>
                </a:solidFill>
              </a:rPr>
              <a:t>2013년 Xie et al. — 수면이 뇌 청소의 핵심 시간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C2C2C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C2C2C"/>
                </a:solidFill>
              </a:rPr>
              <a:t>수면 중 세포간 공간 약 60% 확장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C2C2C"/>
                </a:solidFill>
              </a:rPr>
              <a:t>→ 글림패틱 활성 급격히 증가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C2C2C"/>
                </a:solidFill>
              </a:rPr>
              <a:t>→ Aβ 제거율: 각성 상태 대비 약 2× 증가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C2C2C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C2C2C"/>
                </a:solidFill>
              </a:rPr>
              <a:t>수면 부족 → AD 위험 증가의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C2C2C"/>
                </a:solidFill>
              </a:rPr>
              <a:t>  생물학적 기전을 처음으로 제시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C2C2C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C2C2C"/>
                </a:solidFill>
              </a:rPr>
              <a:t>수면의 질이 신경퇴행 예방에 직결됨을 시사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626364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</a:rPr>
              <a:t>Xie et al., Science, 2013
doi:10.1126/science.1241224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0456" y="822960"/>
            <a:ext cx="3749039" cy="420624"/>
          </a:xfrm>
          <a:prstGeom prst="rect">
            <a:avLst/>
          </a:prstGeom>
          <a:solidFill>
            <a:srgbClr val="1F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🧠  신경퇴행의 공통 최종 경로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0456" y="1243584"/>
            <a:ext cx="3749039" cy="4974336"/>
          </a:xfrm>
          <a:prstGeom prst="rect">
            <a:avLst/>
          </a:prstGeom>
          <a:solidFill>
            <a:srgbClr val="CC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7616" y="1380744"/>
            <a:ext cx="3474720" cy="4791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C2C2C"/>
                </a:solidFill>
              </a:rPr>
              <a:t>Nedergaard &amp; Goldman, 2020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C2C2C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C2C2C"/>
                </a:solidFill>
              </a:rPr>
              <a:t>글림패틱 기능 장애가 공통적으로 관찰된 질환: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C2C2C"/>
                </a:solidFill>
              </a:rPr>
              <a:t>  • Alzheimer's disease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C2C2C"/>
                </a:solidFill>
              </a:rPr>
              <a:t>  • Parkinson's disease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C2C2C"/>
                </a:solidFill>
              </a:rPr>
              <a:t>  • 혈관성 치매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C2C2C"/>
                </a:solidFill>
              </a:rPr>
              <a:t>  • 외상성 뇌손상 후 신경퇴행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C2C2C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C2C2C"/>
                </a:solidFill>
              </a:rPr>
              <a:t>→ 글림패틱 시스템이 신경퇴행 예방의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C2C2C"/>
                </a:solidFill>
              </a:rPr>
              <a:t>    핵심 표적으로 부상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626364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</a:rPr>
              <a:t>Nedergaard &amp; Goldman, Science, 2020
doi:10.1126/science.abb8739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0515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배경 ②  글림패틱 시스템의 구동력: 호흡의 역할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0DFF4"/>
                </a:solidFill>
              </a:rPr>
              <a:t>동맥 박동 · 수면 느린파 · 호흡 진동 — 세 구동력 중 호흡이 실용적 조절 표적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22960"/>
            <a:ext cx="5074920" cy="384048"/>
          </a:xfrm>
          <a:prstGeom prst="rect">
            <a:avLst/>
          </a:prstGeom>
          <a:solidFill>
            <a:srgbClr val="2E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</a:rPr>
              <a:t>① 동맥 박동 (Arterial Pulsatility)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07008"/>
            <a:ext cx="5074920" cy="1414271"/>
          </a:xfrm>
          <a:prstGeom prst="rect">
            <a:avLst/>
          </a:prstGeom>
          <a:solidFill>
            <a:srgbClr val="D0D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325880"/>
            <a:ext cx="4846320" cy="1231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2C2C2C"/>
                </a:solidFill>
              </a:rPr>
              <a:t>심박 → 혈관주위공간 내 CSF 흐름 구동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C2C2C"/>
                </a:solidFill>
              </a:rPr>
              <a:t>핵심 기계적 구동 요인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C2C2C"/>
                </a:solidFill>
              </a:rPr>
              <a:t>in vivo 이광자 현미경으로 직접 규명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2511551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</a:rPr>
              <a:t>Mestre et al., Nat Commun, 2018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712719"/>
            <a:ext cx="5074920" cy="384048"/>
          </a:xfrm>
          <a:prstGeom prst="rect">
            <a:avLst/>
          </a:prstGeom>
          <a:solidFill>
            <a:srgbClr val="127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</a:rPr>
              <a:t>② 수면 느린파 (Slow Wave Coupling)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96767"/>
            <a:ext cx="5074920" cy="1414271"/>
          </a:xfrm>
          <a:prstGeom prst="rect">
            <a:avLst/>
          </a:prstGeom>
          <a:solidFill>
            <a:srgbClr val="CC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3215640"/>
            <a:ext cx="4846320" cy="1231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2C2C2C"/>
                </a:solidFill>
              </a:rPr>
              <a:t>NREM 수면: EEG 느린파 → 혈역학 진동 → CSF 파동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C2C2C"/>
                </a:solidFill>
              </a:rPr>
              <a:t>삼중 결합(coupled oscillation)으로 글림패틱 청소 구동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C2C2C"/>
                </a:solidFill>
              </a:rPr>
              <a:t>인간에서 처음으로 직접 관찰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4401312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</a:rPr>
              <a:t>Fultz et al., Science, 2019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4602480"/>
            <a:ext cx="5074920" cy="384048"/>
          </a:xfrm>
          <a:prstGeom prst="rect">
            <a:avLst/>
          </a:prstGeom>
          <a:solidFill>
            <a:srgbClr val="1F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</a:rPr>
              <a:t>③ 호흡 진동 (Respiratory Oscillation)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986528"/>
            <a:ext cx="5074920" cy="1414271"/>
          </a:xfrm>
          <a:prstGeom prst="rect">
            <a:avLst/>
          </a:prstGeom>
          <a:solidFill>
            <a:srgbClr val="CC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5105400"/>
            <a:ext cx="4846320" cy="1231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2C2C2C"/>
                </a:solidFill>
              </a:rPr>
              <a:t>흡기 → 흉강 내압 변동 → 경정맥 혈류 조절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C2C2C"/>
                </a:solidFill>
              </a:rPr>
              <a:t>→ Foramen Magnum 수준 CSF bulk flow 유발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C2C2C"/>
                </a:solidFill>
              </a:rPr>
              <a:t>심호흡 시 이 효과가 현저히 증폭됨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6291072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</a:rPr>
              <a:t>Dreha-Kulaczewski et al., J Neurosci, 2015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0" y="822960"/>
            <a:ext cx="6199632" cy="420624"/>
          </a:xfrm>
          <a:prstGeom prst="rect">
            <a:avLst/>
          </a:prstGeom>
          <a:solidFill>
            <a:srgbClr val="C96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FFFFFF"/>
                </a:solidFill>
              </a:rPr>
              <a:t>호흡이 핵심 조절 표적인 이유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0" y="1243584"/>
            <a:ext cx="6199632" cy="347472"/>
          </a:xfrm>
          <a:prstGeom prst="rect">
            <a:avLst/>
          </a:prstGeom>
          <a:solidFill>
            <a:srgbClr val="2E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</a:rPr>
              <a:t>흡기(Inspiration) — 기계적 경로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0" y="1591056"/>
            <a:ext cx="6199632" cy="1417320"/>
          </a:xfrm>
          <a:prstGeom prst="rect">
            <a:avLst/>
          </a:prstGeom>
          <a:solidFill>
            <a:srgbClr val="D0D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06440" y="1700784"/>
            <a:ext cx="5943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2C2C2C"/>
                </a:solidFill>
              </a:rPr>
              <a:t>흡기 시 흉강 내압 감소 → 경정맥 혈류 증가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C2C2C"/>
                </a:solidFill>
              </a:rPr>
              <a:t>→ 두개강 내 혈액량 변화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C2C2C"/>
                </a:solidFill>
              </a:rPr>
              <a:t>→ Foramen Magnum 수준 CSF 왕복 흐름 유발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C2C2C"/>
                </a:solidFill>
              </a:rPr>
              <a:t>심호흡 시 효과 증폭 — PC-MRI로 실증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C2C2C"/>
                </a:solidFill>
              </a:rPr>
              <a:t>흡기 = CSF 흐름의 주요 구동력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3035808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</a:rPr>
              <a:t>Dreha-Kulaczewski et al., J Neurosci, 2015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3246120"/>
            <a:ext cx="6199632" cy="347472"/>
          </a:xfrm>
          <a:prstGeom prst="rect">
            <a:avLst/>
          </a:prstGeom>
          <a:solidFill>
            <a:srgbClr val="127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</a:rPr>
              <a:t>CO₂ 조절 + 조절 호흡 — 자율신경적 경로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0" y="3593591"/>
            <a:ext cx="6199632" cy="1600200"/>
          </a:xfrm>
          <a:prstGeom prst="rect">
            <a:avLst/>
          </a:prstGeom>
          <a:solidFill>
            <a:srgbClr val="CC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06440" y="3703320"/>
            <a:ext cx="5943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2C2C2C"/>
                </a:solidFill>
              </a:rPr>
              <a:t>조절 호흡 + 간헐적 CO₂ 노출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C2C2C"/>
                </a:solidFill>
              </a:rPr>
              <a:t>→ 혈관운동 저주파 진동 (vasomotion, ~0.1 Hz) 활성화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C2C2C"/>
                </a:solidFill>
              </a:rPr>
              <a:t>→ 글림패틱 influx 증가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C2C2C"/>
                </a:solidFill>
              </a:rPr>
              <a:t>→ Aβ · tau · α-synuclein 뇌 내 배출 촉진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C2C2C"/>
                </a:solidFill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C2C2C"/>
                </a:solidFill>
              </a:rPr>
              <a:t>핵심: 호흡 패턴 조절만으로 글림패틱 활성 가능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5230368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</a:rPr>
              <a:t>Vakhtin et al., J Cereb Blood Flow Metab, 2026 — doi:10.1177/0271678X251399120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0" y="5440680"/>
            <a:ext cx="6199632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</a:rPr>
              <a:t>→ 결론: 호흡 훈련은 수면과 무관하게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</a:rPr>
              <a:t>각성 중에도 조절 가능한 글림패틱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</a:rPr>
              <a:t>구동력의 실용적 표적임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0515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배경 ③  장기 석문호흡 훈련 → CSF 흐름의 Trait 효과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0DFF4"/>
                </a:solidFill>
              </a:rPr>
              <a:t>급성 State 효과를 넘어 안정 호흡 시에도 지속되는 생리적 변화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22960"/>
            <a:ext cx="5303520" cy="420624"/>
          </a:xfrm>
          <a:prstGeom prst="rect">
            <a:avLst/>
          </a:prstGeom>
          <a:solidFill>
            <a:srgbClr val="127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FFFFFF"/>
                </a:solidFill>
              </a:rPr>
              <a:t>Trait 효과의 생물학적 근거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43584"/>
            <a:ext cx="5303520" cy="365760"/>
          </a:xfrm>
          <a:prstGeom prst="rect">
            <a:avLst/>
          </a:prstGeom>
          <a:solidFill>
            <a:srgbClr val="127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</a:rPr>
              <a:t>① 호흡 근육 기능 적응 (기계적 경로)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09344"/>
            <a:ext cx="5303520" cy="2505456"/>
          </a:xfrm>
          <a:prstGeom prst="rect">
            <a:avLst/>
          </a:prstGeom>
          <a:solidFill>
            <a:srgbClr val="CC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746504"/>
            <a:ext cx="5074920" cy="2368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2C2C2C"/>
                </a:solidFill>
              </a:rPr>
              <a:t>반복 심호흡 훈련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C2C2C"/>
                </a:solidFill>
              </a:rPr>
              <a:t>→ 횡격막 근력 · 운동 범위(excursion) 증가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C2C2C"/>
                </a:solidFill>
              </a:rPr>
              <a:t>→ 일상 호흡에서도 더 큰 흉강 내압 변동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C2C2C"/>
                </a:solidFill>
              </a:rPr>
              <a:t>→ CSF 변위 만성적으로 증가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C2C2C"/>
                </a:solidFill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C2C2C"/>
                </a:solidFill>
              </a:rPr>
              <a:t>훈련 없이도 안정 상태에서 CSF 유동력 높음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4078224"/>
            <a:ext cx="5303520" cy="365760"/>
          </a:xfrm>
          <a:prstGeom prst="rect">
            <a:avLst/>
          </a:prstGeom>
          <a:solidFill>
            <a:srgbClr val="127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</a:rPr>
              <a:t>② 자율신경계 리모델링 (자율신경 경로)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4443984"/>
            <a:ext cx="5303520" cy="2505456"/>
          </a:xfrm>
          <a:prstGeom prst="rect">
            <a:avLst/>
          </a:prstGeom>
          <a:solidFill>
            <a:srgbClr val="CC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4581144"/>
            <a:ext cx="5074920" cy="2368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2C2C2C"/>
                </a:solidFill>
              </a:rPr>
              <a:t>장기 느린 복식 호흡 수련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C2C2C"/>
                </a:solidFill>
              </a:rPr>
              <a:t>→ 심박변이도(HRV) 증가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C2C2C"/>
                </a:solidFill>
              </a:rPr>
              <a:t>→ 안정 시 교감신경 긴장도 감소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C2C2C"/>
                </a:solidFill>
              </a:rPr>
              <a:t>→ 뇌혈관 반응성 변화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C2C2C"/>
                </a:solidFill>
              </a:rPr>
              <a:t>→ vasomotion 패턴 변화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C2C2C"/>
                </a:solidFill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C2C2C"/>
                </a:solidFill>
              </a:rPr>
              <a:t>CSF 유동력이 구조적으로 높아진 상태 유지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6912864"/>
            <a:ext cx="5303520" cy="502920"/>
          </a:xfrm>
          <a:prstGeom prst="rect">
            <a:avLst/>
          </a:prstGeom>
          <a:solidFill>
            <a:srgbClr val="127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</a:rPr>
              <a:t>두 적응의 결합 → 일상 호흡에서도 CSF 유동력이 만성적으로 높은 상태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25312" y="822960"/>
            <a:ext cx="5943600" cy="420624"/>
          </a:xfrm>
          <a:prstGeom prst="rect">
            <a:avLst/>
          </a:prstGeom>
          <a:solidFill>
            <a:srgbClr val="C96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Lim et al., Nature Communications, 2026 — 핵심 발견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25312" y="1243584"/>
            <a:ext cx="5943600" cy="320040"/>
          </a:xfrm>
          <a:prstGeom prst="rect">
            <a:avLst/>
          </a:prstGeom>
          <a:solidFill>
            <a:srgbClr val="88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FFFFFF"/>
                </a:solidFill>
              </a:rPr>
              <a:t>연구 개요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25312" y="1563624"/>
            <a:ext cx="5943600" cy="777240"/>
          </a:xfrm>
          <a:prstGeom prst="rect">
            <a:avLst/>
          </a:prstGeom>
          <a:solidFill>
            <a:srgbClr val="FBE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1636776"/>
            <a:ext cx="5742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C2C2C"/>
                </a:solidFill>
              </a:rPr>
              <a:t>석문호흡 전문가 n=20 (평균 58.1세) vs. 대조군 n=25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C2C2C"/>
                </a:solidFill>
              </a:rPr>
              <a:t>실시간 PC-MRI: Foramen Magnum + 측뇌실 동시 측정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C2C2C"/>
                </a:solidFill>
              </a:rPr>
              <a:t>조건: 자연 호흡(Regular) + 심호흡(Deep) 비교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377440"/>
            <a:ext cx="5742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</a:rPr>
              <a:t>doi:10.1038/s41467-025-66548-4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25312" y="2560320"/>
            <a:ext cx="5943600" cy="347472"/>
          </a:xfrm>
          <a:prstGeom prst="rect">
            <a:avLst/>
          </a:prstGeom>
          <a:solidFill>
            <a:srgbClr val="BB2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</a:rPr>
              <a:t>🔑  핵심 발견: Trait 효과 확인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25312" y="2907791"/>
            <a:ext cx="5943600" cy="914400"/>
          </a:xfrm>
          <a:prstGeom prst="rect">
            <a:avLst/>
          </a:prstGeom>
          <a:solidFill>
            <a:srgbClr val="F7D3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2999232"/>
            <a:ext cx="574243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C2C2C"/>
                </a:solidFill>
              </a:rPr>
              <a:t>자연 호흡(Regular) 조건에서도 전문가군 &gt; 대조군: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C2C2C"/>
                </a:solidFill>
              </a:rPr>
              <a:t>  CSF 유속(mean speed) · 변위 · 순흐름(net flow) 유의미하게 ↑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C2C2C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C2C2C"/>
                </a:solidFill>
              </a:rPr>
              <a:t>→ 심호흡 지시 없이도 차이 존재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C2C2C"/>
                </a:solidFill>
              </a:rPr>
              <a:t>  = 단순 State 효과가 아닌 Trait 수준의 생리적 변화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25312" y="3858768"/>
            <a:ext cx="2880360" cy="329184"/>
          </a:xfrm>
          <a:prstGeom prst="rect">
            <a:avLst/>
          </a:prstGeom>
          <a:solidFill>
            <a:srgbClr val="2E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측뇌실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25312" y="4187952"/>
            <a:ext cx="2880360" cy="685800"/>
          </a:xfrm>
          <a:prstGeom prst="rect">
            <a:avLst/>
          </a:prstGeom>
          <a:solidFill>
            <a:srgbClr val="D0D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16752" y="4233672"/>
            <a:ext cx="2697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기계적 경로 주도
흉강 내압 → 경정맥 경로
→ CSF 변위 증가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8552" y="3858768"/>
            <a:ext cx="2880360" cy="329184"/>
          </a:xfrm>
          <a:prstGeom prst="rect">
            <a:avLst/>
          </a:prstGeom>
          <a:solidFill>
            <a:srgbClr val="127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Foramen Magnum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8552" y="4187952"/>
            <a:ext cx="2880360" cy="685800"/>
          </a:xfrm>
          <a:prstGeom prst="rect">
            <a:avLst/>
          </a:prstGeom>
          <a:solidFill>
            <a:srgbClr val="CC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79992" y="4233672"/>
            <a:ext cx="2697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기계적 + 자율신경
(심박) 경로 복합
→ 더 큰 net flow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25312" y="4910328"/>
            <a:ext cx="5943600" cy="329184"/>
          </a:xfrm>
          <a:prstGeom prst="rect">
            <a:avLst/>
          </a:prstGeom>
          <a:solidFill>
            <a:srgbClr val="C89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</a:rPr>
              <a:t>가장 강한 Trait 예측 변수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25312" y="5239512"/>
            <a:ext cx="5943600" cy="566928"/>
          </a:xfrm>
          <a:prstGeom prst="rect">
            <a:avLst/>
          </a:prstGeom>
          <a:solidFill>
            <a:srgbClr val="FBE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0" y="5285232"/>
            <a:ext cx="5742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2C2C"/>
                </a:solidFill>
              </a:rPr>
              <a:t>흡기 길이(inhale length)  +  횡격막 변위(diaphragm displacement)
→ 장기 훈련으로 일상 호흡의 횡격막 운동 폭이 증가된 결과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25312" y="5852160"/>
            <a:ext cx="5943600" cy="640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</a:rPr>
              <a:t>미해결 질문:
CSF Trait 차이 → FDG-PET 대사 · amyloid 수준과
연관되는가?  ← 본 연구의 핵심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0515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배경 ④  FDG-PET을 통한 글림패틱 기능 평가의 타당성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0DFF4"/>
                </a:solidFill>
              </a:rPr>
              <a:t>글림패틱 기능 저하의 누적 기능적 결과를 CMRGlu로 포착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22960"/>
            <a:ext cx="11548872" cy="3840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FFFFFF"/>
                </a:solidFill>
              </a:rPr>
              <a:t>기전 체인: 글림패틱 기능 저하 → FDG CMRGlu 감소  /  역방향: 글림패틱 보존 → CMRGlu 보존 (본 연구의 예측 방향)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07008"/>
            <a:ext cx="2148840" cy="822960"/>
          </a:xfrm>
          <a:prstGeom prst="rect">
            <a:avLst/>
          </a:prstGeom>
          <a:solidFill>
            <a:srgbClr val="2E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</a:rPr>
              <a:t>글림패틱
기능 저하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057400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</a:rPr>
              <a:t>[1,4]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481328"/>
            <a:ext cx="2194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88888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670048" y="1207008"/>
            <a:ext cx="2148840" cy="822960"/>
          </a:xfrm>
          <a:prstGeom prst="rect">
            <a:avLst/>
          </a:prstGeom>
          <a:solidFill>
            <a:srgbClr val="127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</a:rPr>
              <a:t>Aβ · tau
뇌 실질 축적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70048" y="2057400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</a:rPr>
              <a:t>[1,16]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8888" y="1481328"/>
            <a:ext cx="2194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88888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0056" y="1207008"/>
            <a:ext cx="2148840" cy="822960"/>
          </a:xfrm>
          <a:prstGeom prst="rect">
            <a:avLst/>
          </a:prstGeom>
          <a:solidFill>
            <a:srgbClr val="C96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</a:rPr>
              <a:t>시냅스 전달
LTP 억제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0056" y="2057400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</a:rPr>
              <a:t>[15]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68896" y="1481328"/>
            <a:ext cx="2194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88888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70064" y="1207008"/>
            <a:ext cx="2148840" cy="822960"/>
          </a:xfrm>
          <a:prstGeom prst="rect">
            <a:avLst/>
          </a:prstGeom>
          <a:solidFill>
            <a:srgbClr val="BB2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</a:rPr>
              <a:t>국소 포도당
소비 감소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70064" y="2057400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</a:rPr>
              <a:t>[15]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18904" y="1481328"/>
            <a:ext cx="2194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88888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20072" y="1207008"/>
            <a:ext cx="2148840" cy="822960"/>
          </a:xfrm>
          <a:prstGeom prst="rect">
            <a:avLst/>
          </a:prstGeom>
          <a:solidFill>
            <a:srgbClr val="7B1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</a:rPr>
              <a:t>FDG CMRGlu
감소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0072" y="2057400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</a:rPr>
              <a:t>[12,15]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331720"/>
            <a:ext cx="5486400" cy="365760"/>
          </a:xfrm>
          <a:prstGeom prst="rect">
            <a:avLst/>
          </a:prstGeom>
          <a:solidFill>
            <a:srgbClr val="2E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동적 vs. 정적 FDG-PET 구분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697479"/>
            <a:ext cx="2633472" cy="347472"/>
          </a:xfrm>
          <a:prstGeom prst="rect">
            <a:avLst/>
          </a:prstGeom>
          <a:solidFill>
            <a:srgbClr val="2E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동적 FDG-PET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044952"/>
            <a:ext cx="2633472" cy="1549907"/>
          </a:xfrm>
          <a:prstGeom prst="rect">
            <a:avLst/>
          </a:prstGeom>
          <a:solidFill>
            <a:srgbClr val="D0D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3163824"/>
            <a:ext cx="2423160" cy="1367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2C2C2C"/>
                </a:solidFill>
              </a:rPr>
              <a:t>뇌실 내 CSF clearance rate 직접 정량화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C2C2C"/>
                </a:solidFill>
              </a:rPr>
              <a:t>시간-방사능 곡선(TAC) 분석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C2C2C"/>
                </a:solidFill>
              </a:rPr>
              <a:t>연령 증가 → clearance↓ 확인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C2C2C"/>
                </a:solidFill>
              </a:rPr>
              <a:t>→ 글림패틱 기능 저하 직접 측정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" y="4686299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</a:rPr>
              <a:t>Zhou et al., J Nucl Med, 2025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90088" y="3456431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5EAA"/>
                </a:solidFill>
              </a:rPr>
              <a:t>vs.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72968" y="2697479"/>
            <a:ext cx="2633472" cy="347472"/>
          </a:xfrm>
          <a:prstGeom prst="rect">
            <a:avLst/>
          </a:prstGeom>
          <a:solidFill>
            <a:srgbClr val="1F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정적 FDG-PET (본 연구)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72968" y="3044952"/>
            <a:ext cx="2633472" cy="1549907"/>
          </a:xfrm>
          <a:prstGeom prst="rect">
            <a:avLst/>
          </a:prstGeom>
          <a:solidFill>
            <a:srgbClr val="CC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82696" y="3163824"/>
            <a:ext cx="2423160" cy="1367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2C2C2C"/>
                </a:solidFill>
              </a:rPr>
              <a:t>수십 년간의 누적 기능 결과 포착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C2C2C"/>
                </a:solidFill>
              </a:rPr>
              <a:t>글림패틱 기능의 간접 기능 지표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C2C2C"/>
                </a:solidFill>
              </a:rPr>
              <a:t>CMRGlu = 장기 청소 효율의 반영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C2C2C"/>
                </a:solidFill>
              </a:rPr>
              <a:t>→ Jack 2013 바이오마커 연쇄 기반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82696" y="4686299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</a:rPr>
              <a:t>Jack et al., Lancet Neurol, 2013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594859"/>
            <a:ext cx="544068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FFFFFF"/>
                </a:solidFill>
              </a:rPr>
              <a:t>동적 FDG (직접) + 정적 FDG (누적 결과) 병용 → 체인 전체 검증 가능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942331"/>
            <a:ext cx="5440680" cy="1732787"/>
          </a:xfrm>
          <a:prstGeom prst="rect">
            <a:avLst/>
          </a:prstGeom>
          <a:solidFill>
            <a:srgbClr val="F5F6FA"/>
          </a:solidFill>
          <a:ln w="10160">
            <a:solidFill>
              <a:srgbClr val="E8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768" y="5033771"/>
            <a:ext cx="5230368" cy="1623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2C2C2C"/>
                </a:solidFill>
              </a:rPr>
              <a:t>본 연구: 정적 FDG-PET CMRGlu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C2C2C"/>
                </a:solidFill>
              </a:rPr>
              <a:t>= 글림패틱 기능 보존의 누적 기능 신호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C2C2C"/>
                </a:solidFill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C2C2C"/>
                </a:solidFill>
              </a:rPr>
              <a:t>Zhou 2025: 동적 FDG로 직접 검증 필요 → 후속 연구 방향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08192" y="2331720"/>
            <a:ext cx="5760720" cy="365760"/>
          </a:xfrm>
          <a:prstGeom prst="rect">
            <a:avLst/>
          </a:prstGeom>
          <a:solidFill>
            <a:srgbClr val="C96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Precuneus · PCC를 Primary ROI로 선정한 4가지 근거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2697479"/>
            <a:ext cx="2788920" cy="329184"/>
          </a:xfrm>
          <a:prstGeom prst="rect">
            <a:avLst/>
          </a:prstGeom>
          <a:solidFill>
            <a:srgbClr val="2E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FFFFFF"/>
                </a:solidFill>
              </a:rPr>
              <a:t>① DMN 핵심 허브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08192" y="3026663"/>
            <a:ext cx="2788920" cy="1458467"/>
          </a:xfrm>
          <a:prstGeom prst="rect">
            <a:avLst/>
          </a:prstGeom>
          <a:solidFill>
            <a:srgbClr val="D0D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99631" y="3118103"/>
            <a:ext cx="2606040" cy="133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2C2C2C"/>
                </a:solidFill>
              </a:rPr>
              <a:t>각성 시 뇌 전체 최고 기저 대사율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C2C2C"/>
                </a:solidFill>
              </a:rPr>
              <a:t>→ 글림패틱 노폐물 의존도 최대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C2C2C"/>
                </a:solidFill>
              </a:rPr>
              <a:t>→ 글림패틱 기능 저하 시 가장 취약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99631" y="4393691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</a:rPr>
              <a:t>Buckner et al., J Neurosci, 2005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15984" y="2697479"/>
            <a:ext cx="2788920" cy="329184"/>
          </a:xfrm>
          <a:prstGeom prst="rect">
            <a:avLst/>
          </a:prstGeom>
          <a:solidFill>
            <a:srgbClr val="127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FFFFFF"/>
                </a:solidFill>
              </a:rPr>
              <a:t>② 최선행 Aβ 침착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15984" y="3026663"/>
            <a:ext cx="2788920" cy="1458467"/>
          </a:xfrm>
          <a:prstGeom prst="rect">
            <a:avLst/>
          </a:prstGeom>
          <a:solidFill>
            <a:srgbClr val="CC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07424" y="3118103"/>
            <a:ext cx="2606040" cy="133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2C2C2C"/>
                </a:solidFill>
              </a:rPr>
              <a:t>AD 전임상 단계에서 amyloid가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C2C2C"/>
                </a:solidFill>
              </a:rPr>
              <a:t>가장 먼저 침착되는 영역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C2C2C"/>
                </a:solidFill>
              </a:rPr>
              <a:t>→ 글림패틱 청소 실패에 구조적으로 가장 취약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07424" y="4393691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</a:rPr>
              <a:t>Jack et al., Lancet Neurol, 2013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4594859"/>
            <a:ext cx="2788920" cy="329184"/>
          </a:xfrm>
          <a:prstGeom prst="rect">
            <a:avLst/>
          </a:prstGeom>
          <a:solidFill>
            <a:srgbClr val="1F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FFFFFF"/>
                </a:solidFill>
              </a:rPr>
              <a:t>③ 최선행 FDG 감소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08192" y="4924043"/>
            <a:ext cx="2788920" cy="1458467"/>
          </a:xfrm>
          <a:prstGeom prst="rect">
            <a:avLst/>
          </a:prstGeom>
          <a:solidFill>
            <a:srgbClr val="CC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99631" y="5015483"/>
            <a:ext cx="2606040" cy="133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2C2C2C"/>
                </a:solidFill>
              </a:rPr>
              <a:t>4-11년 종단 FDG-PET 분석: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C2C2C"/>
                </a:solidFill>
              </a:rPr>
              <a:t>인지 정상 고령자에서 PCC/Precuneus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C2C2C"/>
                </a:solidFill>
              </a:rPr>
              <a:t>대사가 가장 일관되게 먼저 감소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99631" y="6291071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</a:rPr>
              <a:t>Ishibashi et al., Sci Rep, 2018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15984" y="4594859"/>
            <a:ext cx="2788920" cy="329184"/>
          </a:xfrm>
          <a:prstGeom prst="rect">
            <a:avLst/>
          </a:prstGeom>
          <a:solidFill>
            <a:srgbClr val="C96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FFFFFF"/>
                </a:solidFill>
              </a:rPr>
              <a:t>④ 수렴 타당도 교차 검증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15984" y="4924043"/>
            <a:ext cx="2788920" cy="1458467"/>
          </a:xfrm>
          <a:prstGeom prst="rect">
            <a:avLst/>
          </a:prstGeom>
          <a:solidFill>
            <a:srgbClr val="FBE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07424" y="5015483"/>
            <a:ext cx="2606040" cy="133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2C2C2C"/>
                </a:solidFill>
              </a:rPr>
              <a:t>FDG-PET (기능 지표) +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C2C2C"/>
                </a:solidFill>
              </a:rPr>
              <a:t>Florbetaben-PET (병리 지표)를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C2C2C"/>
                </a:solidFill>
              </a:rPr>
              <a:t>동일 ROI에서 동시 측정 → 교차 검증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07424" y="6291071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</a:rPr>
              <a:t>본 연구 설계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08192" y="6236207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</a:rPr>
              <a:t>Dagum et al., Nat Commun, 2026 — 인간 수면 중 글림패틱이 Aβ·tau를 직접 배출 최초 입증 [16] ⚠️ DOI 검증 필요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0515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배경 ⑤  현재까지의 연구 공백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0DFF4"/>
                </a:solidFill>
              </a:rPr>
              <a:t>개별 링크는 확립됐으나 전체 체인의 동시 검증은 전무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22960"/>
            <a:ext cx="11548872" cy="384048"/>
          </a:xfrm>
          <a:prstGeom prst="rect">
            <a:avLst/>
          </a:prstGeom>
          <a:solidFill>
            <a:srgbClr val="1F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FFFFFF"/>
                </a:solidFill>
              </a:rPr>
              <a:t>확립된 링크: 호흡→CSF↑ [6,8]  |  장기훈련→CSF Trait↑ [9]  |  CSF→Aβ제거 [1,4,16]  |  글림패틱↓→FDG↓ [10,12,15]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07008"/>
            <a:ext cx="11548872" cy="329184"/>
          </a:xfrm>
          <a:prstGeom prst="rect">
            <a:avLst/>
          </a:prstGeom>
          <a:solidFill>
            <a:srgbClr val="BB2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</a:rPr>
              <a:t>미검증: 이 전체 체인을 인간에서 동시 검증한 연구 — 전무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36192"/>
            <a:ext cx="242316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선행 연구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536192"/>
            <a:ext cx="3017520" cy="347472"/>
          </a:xfrm>
          <a:prstGeom prst="rect">
            <a:avLst/>
          </a:prstGeom>
          <a:solidFill>
            <a:srgbClr val="2E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주요 발견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0" y="1536192"/>
            <a:ext cx="2834640" cy="347472"/>
          </a:xfrm>
          <a:prstGeom prst="rect">
            <a:avLst/>
          </a:prstGeom>
          <a:solidFill>
            <a:srgbClr val="BB2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결정적 한계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95360" y="1536192"/>
            <a:ext cx="2953512" cy="347472"/>
          </a:xfrm>
          <a:prstGeom prst="rect">
            <a:avLst/>
          </a:prstGeom>
          <a:solidFill>
            <a:srgbClr val="C96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남은 Gap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883664"/>
            <a:ext cx="11548872" cy="1536191"/>
          </a:xfrm>
          <a:prstGeom prst="rect">
            <a:avLst/>
          </a:prstGeom>
          <a:solidFill>
            <a:srgbClr val="F5F6FA"/>
          </a:solidFill>
          <a:ln w="6350">
            <a:solidFill>
              <a:srgbClr val="E8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956816"/>
            <a:ext cx="2286000" cy="1426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2C2C"/>
                </a:solidFill>
              </a:rPr>
              <a:t>Nashiro et al.
Sci Rep, 2023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956816"/>
            <a:ext cx="2926080" cy="1426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느린 호흡 RCT
혈액/혈역학 지표와
연관성 보고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1956816"/>
            <a:ext cx="2724912" cy="1426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2929"/>
                </a:solidFill>
              </a:rPr>
              <a:t>혈액 지표 ≠ 뇌 실질 PET
혈액-뇌 장벽 차이 존재
단기 개입 효과만 관찰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13648" y="1956816"/>
            <a:ext cx="2852928" cy="1426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6219"/>
                </a:solidFill>
              </a:rPr>
              <a:t>뇌 내 PET 수준
검증 없음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419856"/>
            <a:ext cx="11548872" cy="1536191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3493008"/>
            <a:ext cx="2286000" cy="1426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2C2C"/>
                </a:solidFill>
              </a:rPr>
              <a:t>Lim et al.
Nat Commun,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3493008"/>
            <a:ext cx="2926080" cy="1426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석문호흡 전문가에서
CSF Trait 차이 최초 확인
자연 호흡에서도 차이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3493008"/>
            <a:ext cx="2724912" cy="1426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2929"/>
                </a:solidFill>
              </a:rPr>
              <a:t>신경 대사·병리 지표 미포함
'CSF 변화 → 뇌 건강 보존'
기능 연결 고리 미해결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3648" y="3493008"/>
            <a:ext cx="2852928" cy="1426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6219"/>
                </a:solidFill>
              </a:rPr>
              <a:t>FDG-PET · amyloid PET
연관성 미검증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956048"/>
            <a:ext cx="11548872" cy="1536191"/>
          </a:xfrm>
          <a:prstGeom prst="rect">
            <a:avLst/>
          </a:prstGeom>
          <a:solidFill>
            <a:srgbClr val="F5F6FA"/>
          </a:solidFill>
          <a:ln w="6350">
            <a:solidFill>
              <a:srgbClr val="E8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5029200"/>
            <a:ext cx="2286000" cy="1426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2C2C"/>
                </a:solidFill>
              </a:rPr>
              <a:t>Zhou et al.
J Nucl Med, 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5029200"/>
            <a:ext cx="2926080" cy="1426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동적 FDG-PET으로
글림패틱 clearance 정량화
연령 관련 저하 확인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06440" y="5029200"/>
            <a:ext cx="2724912" cy="1426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2929"/>
                </a:solidFill>
              </a:rPr>
              <a:t>우울증 임상시험
베이스라인 코호트 사용
호흡 훈련 집단 미적용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13648" y="5029200"/>
            <a:ext cx="2852928" cy="1426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6219"/>
                </a:solidFill>
              </a:rPr>
              <a:t>호흡 훈련군에서
FDG 기반 글림패틱
평가 없음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5897879"/>
            <a:ext cx="11548872" cy="5943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FFFFFF"/>
                </a:solidFill>
              </a:rPr>
              <a:t>임상 중요성 (Jack 2013): Aβ 침착은 증상 발현 15-20년 전 시작 → 60-79세 = 예방 가능한 창(preventive window)</a:t>
            </a:r>
          </a:p>
          <a:p>
            <a:pPr algn="l">
              <a:spcAft>
                <a:spcPts val="300"/>
              </a:spcAft>
            </a:pPr>
            <a:r>
              <a:rPr sz="1150" b="1">
                <a:solidFill>
                  <a:srgbClr val="FFFFFF"/>
                </a:solidFill>
              </a:rPr>
              <a:t>PET 기반 단면 관찰 연구조차 현재까지 수행된 바 없음 → 본 연구가 이 공백을 처음으로 채움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0515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연구 목적 및 사전 명시 가설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0DFF4"/>
                </a:solidFill>
              </a:rPr>
              <a:t>계층적 outcome 구조 · ClinicalTrials.gov 사전 등록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22960"/>
            <a:ext cx="5212080" cy="39319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연구 설계 개요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16152"/>
            <a:ext cx="1371600" cy="842771"/>
          </a:xfrm>
          <a:prstGeom prst="rect">
            <a:avLst/>
          </a:prstGeom>
          <a:solidFill>
            <a:srgbClr val="2E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유형</a:t>
            </a:r>
          </a:p>
        </p:txBody>
      </p:sp>
      <p:sp>
        <p:nvSpPr>
          <p:cNvPr id="7" name="Rectangle 6"/>
          <p:cNvSpPr/>
          <p:nvPr/>
        </p:nvSpPr>
        <p:spPr>
          <a:xfrm>
            <a:off x="1709928" y="1216152"/>
            <a:ext cx="3840480" cy="842771"/>
          </a:xfrm>
          <a:prstGeom prst="rect">
            <a:avLst/>
          </a:prstGeom>
          <a:solidFill>
            <a:srgbClr val="F5F6FA"/>
          </a:solidFill>
          <a:ln w="6350">
            <a:solidFill>
              <a:srgbClr val="E8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1368" y="1261872"/>
            <a:ext cx="3657600" cy="769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전향적 단면 관찰 연구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095499"/>
            <a:ext cx="1371600" cy="842771"/>
          </a:xfrm>
          <a:prstGeom prst="rect">
            <a:avLst/>
          </a:prstGeom>
          <a:solidFill>
            <a:srgbClr val="2E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대상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09928" y="2095499"/>
            <a:ext cx="3840480" cy="842771"/>
          </a:xfrm>
          <a:prstGeom prst="rect">
            <a:avLst/>
          </a:prstGeom>
          <a:solidFill>
            <a:srgbClr val="F5F6FA"/>
          </a:solidFill>
          <a:ln w="6350">
            <a:solidFill>
              <a:srgbClr val="E8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01368" y="2141219"/>
            <a:ext cx="3657600" cy="769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60-79세  석문호흡 전문가 vs. 연령·성별 매칭 대조군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974847"/>
            <a:ext cx="1371600" cy="842771"/>
          </a:xfrm>
          <a:prstGeom prst="rect">
            <a:avLst/>
          </a:prstGeom>
          <a:solidFill>
            <a:srgbClr val="2E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규모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09928" y="2974847"/>
            <a:ext cx="3840480" cy="842771"/>
          </a:xfrm>
          <a:prstGeom prst="rect">
            <a:avLst/>
          </a:prstGeom>
          <a:solidFill>
            <a:srgbClr val="F5F6FA"/>
          </a:solidFill>
          <a:ln w="6350">
            <a:solidFill>
              <a:srgbClr val="E8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01368" y="3020567"/>
            <a:ext cx="3657600" cy="769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n=20-30  (각 군 10-15명, pilot study)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854196"/>
            <a:ext cx="1371600" cy="842771"/>
          </a:xfrm>
          <a:prstGeom prst="rect">
            <a:avLst/>
          </a:prstGeom>
          <a:solidFill>
            <a:srgbClr val="2E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코호트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09928" y="3854196"/>
            <a:ext cx="3840480" cy="842771"/>
          </a:xfrm>
          <a:prstGeom prst="rect">
            <a:avLst/>
          </a:prstGeom>
          <a:solidFill>
            <a:srgbClr val="F5F6FA"/>
          </a:solidFill>
          <a:ln w="6350">
            <a:solidFill>
              <a:srgbClr val="E8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01368" y="3899915"/>
            <a:ext cx="3657600" cy="769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Lim 2026과 완전 독립된 새 코호트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733543"/>
            <a:ext cx="1371600" cy="842771"/>
          </a:xfrm>
          <a:prstGeom prst="rect">
            <a:avLst/>
          </a:prstGeom>
          <a:solidFill>
            <a:srgbClr val="2E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모달리티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09928" y="4733543"/>
            <a:ext cx="3840480" cy="842771"/>
          </a:xfrm>
          <a:prstGeom prst="rect">
            <a:avLst/>
          </a:prstGeom>
          <a:solidFill>
            <a:srgbClr val="F5F6FA"/>
          </a:solidFill>
          <a:ln w="6350">
            <a:solidFill>
              <a:srgbClr val="E8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01368" y="4779263"/>
            <a:ext cx="3657600" cy="769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FDG-PET · PC-MRI · Florbetaben-PET
혈액(NfL/GFAP) · mobiCARE · 인지검사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5612891"/>
            <a:ext cx="1371600" cy="842771"/>
          </a:xfrm>
          <a:prstGeom prst="rect">
            <a:avLst/>
          </a:prstGeom>
          <a:solidFill>
            <a:srgbClr val="2E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등록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09928" y="5612891"/>
            <a:ext cx="3840480" cy="842771"/>
          </a:xfrm>
          <a:prstGeom prst="rect">
            <a:avLst/>
          </a:prstGeom>
          <a:solidFill>
            <a:srgbClr val="F5F6FA"/>
          </a:solidFill>
          <a:ln w="6350">
            <a:solidFill>
              <a:srgbClr val="E8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01368" y="5658611"/>
            <a:ext cx="3657600" cy="769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ClinicalTrials.gov 사전 등록
(다중 모달리티 파일럿 → 제1종 오류 팽창 방지)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06440" y="822960"/>
            <a:ext cx="6062472" cy="39319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사전 명시 가설 (H1 – H4)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06440" y="1216152"/>
            <a:ext cx="1783080" cy="1036929"/>
          </a:xfrm>
          <a:prstGeom prst="rect">
            <a:avLst/>
          </a:prstGeom>
          <a:solidFill>
            <a:srgbClr val="2E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H1  Primary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07808" y="1216152"/>
            <a:ext cx="4261104" cy="1036929"/>
          </a:xfrm>
          <a:prstGeom prst="rect">
            <a:avLst/>
          </a:prstGeom>
          <a:solidFill>
            <a:srgbClr val="D0DFF4"/>
          </a:solidFill>
          <a:ln w="6350">
            <a:solidFill>
              <a:srgbClr val="E8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99248" y="1252728"/>
            <a:ext cx="4078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</a:rPr>
              <a:t>FDG-PET  Precuneus · PCC  CMRGlu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99248" y="1527048"/>
            <a:ext cx="4078224" cy="6711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2C2C"/>
                </a:solidFill>
              </a:rPr>
              <a:t>전문가 &gt; 대조군
Bonferroni 보정 α=0.025 (2 ROI)
석문호흡 전문가에서 FDG CMRGlu 유의미하게 높다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06440" y="2271369"/>
            <a:ext cx="1783080" cy="1036929"/>
          </a:xfrm>
          <a:prstGeom prst="rect">
            <a:avLst/>
          </a:prstGeom>
          <a:solidFill>
            <a:srgbClr val="127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H2-복제  Secondary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07808" y="2271369"/>
            <a:ext cx="4261104" cy="1036929"/>
          </a:xfrm>
          <a:prstGeom prst="rect">
            <a:avLst/>
          </a:prstGeom>
          <a:solidFill>
            <a:srgbClr val="CCE9EF"/>
          </a:solidFill>
          <a:ln w="6350">
            <a:solidFill>
              <a:srgbClr val="E8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99248" y="2307945"/>
            <a:ext cx="4078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</a:rPr>
              <a:t>Rest 조건  PC-MRI  CSF 유속 · 박동성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99248" y="2582265"/>
            <a:ext cx="4078224" cy="6711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2C2C"/>
                </a:solidFill>
              </a:rPr>
              <a:t>전문가 &gt; 대조군
Lim 2026 Trait 발견을 독립 코호트에서 복제
내적 타당도 확보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06440" y="3326587"/>
            <a:ext cx="1783080" cy="1036929"/>
          </a:xfrm>
          <a:prstGeom prst="rect">
            <a:avLst/>
          </a:prstGeom>
          <a:solidFill>
            <a:srgbClr val="1F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H2-기전  Secondary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07808" y="3326587"/>
            <a:ext cx="4261104" cy="1036929"/>
          </a:xfrm>
          <a:prstGeom prst="rect">
            <a:avLst/>
          </a:prstGeom>
          <a:solidFill>
            <a:srgbClr val="CCE8D8"/>
          </a:solidFill>
          <a:ln w="6350">
            <a:solidFill>
              <a:srgbClr val="E8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99248" y="3363163"/>
            <a:ext cx="4078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</a:rPr>
              <a:t>CSF 유속 ↔ FDG CMRGlu  개체 내 상관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99248" y="3637483"/>
            <a:ext cx="4078224" cy="6711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2C2C"/>
                </a:solidFill>
              </a:rPr>
              <a:t>양의 상관 (그룹 소속 통제 후에도 유지)
글림패틱-대사 체인의 in vivo plausibility 검증
← 본 연구의 핵심 기전 기여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06440" y="4381804"/>
            <a:ext cx="1783080" cy="1036929"/>
          </a:xfrm>
          <a:prstGeom prst="rect">
            <a:avLst/>
          </a:prstGeom>
          <a:solidFill>
            <a:srgbClr val="C96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H3  Exploratory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07808" y="4381804"/>
            <a:ext cx="4261104" cy="1036929"/>
          </a:xfrm>
          <a:prstGeom prst="rect">
            <a:avLst/>
          </a:prstGeom>
          <a:solidFill>
            <a:srgbClr val="FBE3CC"/>
          </a:solidFill>
          <a:ln w="6350">
            <a:solidFill>
              <a:srgbClr val="E8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99248" y="4418380"/>
            <a:ext cx="4078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</a:rPr>
              <a:t>Florbetaben-PET  amyloid SUVr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99248" y="4692700"/>
            <a:ext cx="4078224" cy="6711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2C2C"/>
                </a:solidFill>
              </a:rPr>
              <a:t>전문가 &lt; 대조군
α=0.05 uncorrected
FDG(기능)와 amyloid(병리)의 수렴 타당도 교차 검증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06440" y="5437022"/>
            <a:ext cx="1783080" cy="1036929"/>
          </a:xfrm>
          <a:prstGeom prst="rect">
            <a:avLst/>
          </a:prstGeom>
          <a:solidFill>
            <a:srgbClr val="C89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H4  Exploratory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07808" y="5437022"/>
            <a:ext cx="4261104" cy="1036929"/>
          </a:xfrm>
          <a:prstGeom prst="rect">
            <a:avLst/>
          </a:prstGeom>
          <a:solidFill>
            <a:srgbClr val="FBEFCC"/>
          </a:solidFill>
          <a:ln w="6350">
            <a:solidFill>
              <a:srgbClr val="E8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99248" y="5473598"/>
            <a:ext cx="4078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</a:rPr>
              <a:t>mobiCARE 7일 호흡 깊이 ↔ FDG CMRGlu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99248" y="5747918"/>
            <a:ext cx="4078224" cy="6711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2C2C"/>
                </a:solidFill>
              </a:rPr>
              <a:t>양의 상관 (dose-response)
그룹 이분법 보완 · 선택 편향 부분 반증
Trait 호흡의 연속 변수 분석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0515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Introduction  핵심 논리 흐름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0DFF4"/>
                </a:solidFill>
              </a:rPr>
              <a:t>글림패틱 발견 → 호흡 구동력 → Trait 효과 → FDG 타당성 → Gap → 본 연구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22960"/>
            <a:ext cx="1755648" cy="1143000"/>
          </a:xfrm>
          <a:prstGeom prst="rect">
            <a:avLst/>
          </a:prstGeom>
          <a:solidFill>
            <a:srgbClr val="2E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① 글림패틱
시스템 발견
Iliff 2012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965960"/>
            <a:ext cx="1755648" cy="749808"/>
          </a:xfrm>
          <a:prstGeom prst="rect">
            <a:avLst/>
          </a:prstGeom>
          <a:solidFill>
            <a:srgbClr val="E8E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048256"/>
            <a:ext cx="16093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C2C2C"/>
                </a:solidFill>
              </a:rPr>
              <a:t>AQP4 채널 통해
Aβ · tau 제거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57984" y="1234440"/>
            <a:ext cx="2194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888888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395728" y="822960"/>
            <a:ext cx="1755648" cy="1143000"/>
          </a:xfrm>
          <a:prstGeom prst="rect">
            <a:avLst/>
          </a:prstGeom>
          <a:solidFill>
            <a:srgbClr val="127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② 호흡이
구동력
Dreha 2015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95728" y="1965960"/>
            <a:ext cx="1755648" cy="749808"/>
          </a:xfrm>
          <a:prstGeom prst="rect">
            <a:avLst/>
          </a:prstGeom>
          <a:solidFill>
            <a:srgbClr val="E8E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2048256"/>
            <a:ext cx="16093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C2C2C"/>
                </a:solidFill>
              </a:rPr>
              <a:t>흡기 → CSF
bulk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9663" y="1234440"/>
            <a:ext cx="2194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888888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7408" y="822960"/>
            <a:ext cx="1755648" cy="1143000"/>
          </a:xfrm>
          <a:prstGeom prst="rect">
            <a:avLst/>
          </a:prstGeom>
          <a:solidFill>
            <a:srgbClr val="1F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③ Trait 효과
확인
Lim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7408" y="1965960"/>
            <a:ext cx="1755648" cy="749808"/>
          </a:xfrm>
          <a:prstGeom prst="rect">
            <a:avLst/>
          </a:prstGeom>
          <a:solidFill>
            <a:srgbClr val="E8E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2048256"/>
            <a:ext cx="16093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C2C2C"/>
                </a:solidFill>
              </a:rPr>
              <a:t>Regular 호흡에서도
CSF Trait 차이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1344" y="1234440"/>
            <a:ext cx="2194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888888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19088" y="822960"/>
            <a:ext cx="1755648" cy="1143000"/>
          </a:xfrm>
          <a:prstGeom prst="rect">
            <a:avLst/>
          </a:prstGeom>
          <a:solidFill>
            <a:srgbClr val="C96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④ FDG-PET
타당성
Zhou 2025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19088" y="1965960"/>
            <a:ext cx="1755648" cy="749808"/>
          </a:xfrm>
          <a:prstGeom prst="rect">
            <a:avLst/>
          </a:prstGeom>
          <a:solidFill>
            <a:srgbClr val="E8E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048256"/>
            <a:ext cx="16093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C2C2C"/>
                </a:solidFill>
              </a:rPr>
              <a:t>CMRGlu =
누적 기능 결과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3024" y="1234440"/>
            <a:ext cx="2194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888888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30768" y="822960"/>
            <a:ext cx="1755648" cy="1143000"/>
          </a:xfrm>
          <a:prstGeom prst="rect">
            <a:avLst/>
          </a:prstGeom>
          <a:solidFill>
            <a:srgbClr val="BB2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⑤ 연구
공백
(Gap)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30768" y="1965960"/>
            <a:ext cx="1755648" cy="749808"/>
          </a:xfrm>
          <a:prstGeom prst="rect">
            <a:avLst/>
          </a:prstGeom>
          <a:solidFill>
            <a:srgbClr val="E8E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2048256"/>
            <a:ext cx="16093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C2C2C"/>
                </a:solidFill>
              </a:rPr>
              <a:t>PET 수준 검증
전무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04704" y="1234440"/>
            <a:ext cx="2194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888888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442448" y="822960"/>
            <a:ext cx="1755648" cy="11430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⑥ 본 연구
목적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442448" y="1965960"/>
            <a:ext cx="1755648" cy="749808"/>
          </a:xfrm>
          <a:prstGeom prst="rect">
            <a:avLst/>
          </a:prstGeom>
          <a:solidFill>
            <a:srgbClr val="E8E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0" y="2048256"/>
            <a:ext cx="16093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C2C2C"/>
                </a:solidFill>
              </a:rPr>
              <a:t>FDG + PC-MRI
+ amyloid PET
+ mobiCARE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2852928"/>
            <a:ext cx="11420856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본 연구의 핵심 기여 3가지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" y="3218688"/>
            <a:ext cx="3639312" cy="347472"/>
          </a:xfrm>
          <a:prstGeom prst="rect">
            <a:avLst/>
          </a:prstGeom>
          <a:solidFill>
            <a:srgbClr val="2E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</a:rPr>
              <a:t>①  PET 수준 첫 검증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3566160"/>
            <a:ext cx="3639312" cy="960120"/>
          </a:xfrm>
          <a:prstGeom prst="rect">
            <a:avLst/>
          </a:prstGeom>
          <a:solidFill>
            <a:srgbClr val="D0D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6" y="3657600"/>
            <a:ext cx="3419856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장기 석문호흡 훈련자에 FDG-PET + amyloid PET 최초 적용
→ 연구 공백(Gap 1, 2) 해결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06240" y="3218688"/>
            <a:ext cx="3639312" cy="347472"/>
          </a:xfrm>
          <a:prstGeom prst="rect">
            <a:avLst/>
          </a:prstGeom>
          <a:solidFill>
            <a:srgbClr val="127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</a:rPr>
              <a:t>②  기전 체인 in vivo 지지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3566160"/>
            <a:ext cx="3639312" cy="960120"/>
          </a:xfrm>
          <a:prstGeom prst="rect">
            <a:avLst/>
          </a:prstGeom>
          <a:solidFill>
            <a:srgbClr val="CC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15968" y="3657600"/>
            <a:ext cx="3419856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동일 개체 내 PC-MRI CSF ↔ FDG CMRGlu 상관 최초 실증
→ 글림패틱-대사 체인의 인간 plausibility 검증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28431" y="3218688"/>
            <a:ext cx="3639312" cy="347472"/>
          </a:xfrm>
          <a:prstGeom prst="rect">
            <a:avLst/>
          </a:prstGeom>
          <a:solidFill>
            <a:srgbClr val="1F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</a:rPr>
              <a:t>③  Dose-Response 검증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28431" y="3566160"/>
            <a:ext cx="3639312" cy="960120"/>
          </a:xfrm>
          <a:prstGeom prst="rect">
            <a:avLst/>
          </a:prstGeom>
          <a:solidFill>
            <a:srgbClr val="CC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38159" y="3657600"/>
            <a:ext cx="3419856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7일 mobiCARE Trait 호흡 ↔ FDG 연속 상관
→ 그룹 이분법 보완, 선택 편향 부분 반증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4048" y="4645152"/>
            <a:ext cx="5394960" cy="347472"/>
          </a:xfrm>
          <a:prstGeom prst="rect">
            <a:avLst/>
          </a:prstGeom>
          <a:solidFill>
            <a:srgbClr val="BB2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</a:rPr>
              <a:t>주요 한계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4048" y="4992624"/>
            <a:ext cx="5394960" cy="1499616"/>
          </a:xfrm>
          <a:prstGeom prst="rect">
            <a:avLst/>
          </a:prstGeom>
          <a:solidFill>
            <a:srgbClr val="F7D3D3"/>
          </a:solidFill>
          <a:ln w="6350">
            <a:solidFill>
              <a:srgbClr val="BB29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3776" y="5084064"/>
            <a:ext cx="518464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2C2C2C"/>
                </a:solidFill>
              </a:rPr>
              <a:t>단면 연구 → 인과 불가 · 역인과 가능성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C2C2C"/>
                </a:solidFill>
              </a:rPr>
              <a:t>파일럿 규모(n=20-30) → 효과 크기 추정이 주 기여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C2C2C"/>
                </a:solidFill>
              </a:rPr>
              <a:t>잔여 교란 가능성 (식이·사회적 요인·훈련 이질성)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C2C2C"/>
                </a:solidFill>
              </a:rPr>
              <a:t>정적 FDG-PET — 동적 FDG-PET 미병용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35040" y="4645152"/>
            <a:ext cx="5769864" cy="347472"/>
          </a:xfrm>
          <a:prstGeom prst="rect">
            <a:avLst/>
          </a:prstGeom>
          <a:solidFill>
            <a:srgbClr val="127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</a:rPr>
              <a:t>후속 연구 방향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35040" y="4992624"/>
            <a:ext cx="5769864" cy="1499616"/>
          </a:xfrm>
          <a:prstGeom prst="rect">
            <a:avLst/>
          </a:prstGeom>
          <a:solidFill>
            <a:srgbClr val="CCE9EF"/>
          </a:solidFill>
          <a:ln w="6350">
            <a:solidFill>
              <a:srgbClr val="127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44768" y="5084064"/>
            <a:ext cx="5559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2C2C2C"/>
                </a:solidFill>
              </a:rPr>
              <a:t>① RCT: 12개월+ 호흡 훈련 → PC-MRI/FDG 변화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C2C2C"/>
                </a:solidFill>
              </a:rPr>
              <a:t>② 종단 추적: 기저 CSF → 이후 FDG 궤적 예측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C2C2C"/>
                </a:solidFill>
              </a:rPr>
              <a:t>③ 동적+정적 FDG 병용 — 체인 전체 동시 검증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C2C2C"/>
                </a:solidFill>
              </a:rPr>
              <a:t>④ 훈련 성분 분리 (Dismantling Study)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